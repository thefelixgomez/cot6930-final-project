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I’m Felix, and alongside Mike and Norm, we are team GCL. For our final project, we built a highly available, event-driven Recommender System API.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6ffb58535_0_56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the event-driven architecture powering our Recommender API.</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Our primary goal was to deploy a resilient and scalable machine learning API that goes beyond just serving predictions. We built this to support zero-downtime model hot-swapping and full real-time observability.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pull this off, we used a modern data stack: FastAPI for the backend, Docker for strict containerization, Apache Kafka for event streaming, and Cloudflare R2 for our model registry. Everything is deployed through an automated CI/CD pipeline and monitored live by Prometheus and Grafana.</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It starts with our automated CI/CD pipeline. Pushing code to GitHub triggers a multi-stage Docker build, producing a secure, lightweight container that deploys automatically to Render.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application layer, our FastAPI gateway handles user requests. But instead of processing analytics synchronously, it instantly fires event data into Apache Kafka. Using Kafka as our broker completely decouples our fast API from our heavy data processing.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background, our Stream Ingestor consumes those Kafka events, validates the data, and batches it into Cloudflare R2 as </a:t>
            </a:r>
            <a:r>
              <a:rPr lang="en"/>
              <a:t>Parquet </a:t>
            </a:r>
            <a:r>
              <a:rPr lang="en"/>
              <a:t>snapshots. Finally, when we retrain our models on that data, the new artifacts are uploaded back to R2, and our system securely hot-swaps the active model with zero downtime.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 me drop these slides and show you our Live API system in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(During the Live API demo):</a:t>
            </a:r>
            <a:endParaRPr/>
          </a:p>
          <a:p>
            <a:pPr indent="0" lvl="0" marL="0" rtl="0" algn="l">
              <a:spcBef>
                <a:spcPts val="0"/>
              </a:spcBef>
              <a:spcAft>
                <a:spcPts val="0"/>
              </a:spcAft>
              <a:buNone/>
            </a:pPr>
            <a:r>
              <a:rPr lang="en"/>
              <a:t>As you can see, the API is live and actively serving recommendations. But the real power of this architecture is how we handle updates. I will hand it over to Normil to show how we hot-swap our models without taking the system offline.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83e2989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83e2989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8aede2c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8aede2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8aede2c6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8aede2c6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d6dcc1519f_6_0)">
  <p:cSld name="Generated (g3d6dcc1519f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GCL Final Project</a:t>
            </a:r>
            <a:endParaRPr/>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Felix Gomez, Michael Clopton, Normil Luccin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121"/>
        </a:solidFill>
      </p:bgPr>
    </p:bg>
    <p:spTree>
      <p:nvGrpSpPr>
        <p:cNvPr id="59" name="Shape 59"/>
        <p:cNvGrpSpPr/>
        <p:nvPr/>
      </p:nvGrpSpPr>
      <p:grpSpPr>
        <a:xfrm>
          <a:off x="0" y="0"/>
          <a:ext cx="0" cy="0"/>
          <a:chOff x="0" y="0"/>
          <a:chExt cx="0" cy="0"/>
        </a:xfrm>
      </p:grpSpPr>
      <p:sp>
        <p:nvSpPr>
          <p:cNvPr id="60" name="Google Shape;60;p15"/>
          <p:cNvSpPr/>
          <p:nvPr/>
        </p:nvSpPr>
        <p:spPr>
          <a:xfrm>
            <a:off x="381000" y="381000"/>
            <a:ext cx="1143000" cy="28500"/>
          </a:xfrm>
          <a:prstGeom prst="rect">
            <a:avLst/>
          </a:prstGeom>
          <a:solidFill>
            <a:srgbClr val="ADADA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1" name="Google Shape;61;p15"/>
          <p:cNvGrpSpPr/>
          <p:nvPr/>
        </p:nvGrpSpPr>
        <p:grpSpPr>
          <a:xfrm>
            <a:off x="1524000" y="1514475"/>
            <a:ext cx="6539487" cy="1457475"/>
            <a:chOff x="1524000" y="1514475"/>
            <a:chExt cx="6539487" cy="1457475"/>
          </a:xfrm>
        </p:grpSpPr>
        <p:pic>
          <p:nvPicPr>
            <p:cNvPr id="62" name="Google Shape;62;p15"/>
            <p:cNvPicPr preferRelativeResize="0"/>
            <p:nvPr/>
          </p:nvPicPr>
          <p:blipFill rotWithShape="1">
            <a:blip r:embed="rId3">
              <a:alphaModFix/>
            </a:blip>
            <a:srcRect b="0" l="0" r="0" t="0"/>
            <a:stretch/>
          </p:blipFill>
          <p:spPr>
            <a:xfrm>
              <a:off x="1524000" y="1933575"/>
              <a:ext cx="304800" cy="133500"/>
            </a:xfrm>
            <a:prstGeom prst="rect">
              <a:avLst/>
            </a:prstGeom>
            <a:noFill/>
            <a:ln>
              <a:noFill/>
            </a:ln>
          </p:spPr>
        </p:pic>
        <p:pic>
          <p:nvPicPr>
            <p:cNvPr id="63" name="Google Shape;63;p15"/>
            <p:cNvPicPr preferRelativeResize="0"/>
            <p:nvPr/>
          </p:nvPicPr>
          <p:blipFill rotWithShape="1">
            <a:blip r:embed="rId3">
              <a:alphaModFix/>
            </a:blip>
            <a:srcRect b="0" l="0" r="0" t="0"/>
            <a:stretch/>
          </p:blipFill>
          <p:spPr>
            <a:xfrm>
              <a:off x="2857500" y="1933575"/>
              <a:ext cx="304800" cy="133500"/>
            </a:xfrm>
            <a:prstGeom prst="rect">
              <a:avLst/>
            </a:prstGeom>
            <a:noFill/>
            <a:ln>
              <a:noFill/>
            </a:ln>
          </p:spPr>
        </p:pic>
        <p:pic>
          <p:nvPicPr>
            <p:cNvPr id="64" name="Google Shape;64;p15"/>
            <p:cNvPicPr preferRelativeResize="0"/>
            <p:nvPr/>
          </p:nvPicPr>
          <p:blipFill rotWithShape="1">
            <a:blip r:embed="rId4">
              <a:alphaModFix/>
            </a:blip>
            <a:srcRect b="0" l="0" r="0" t="0"/>
            <a:stretch/>
          </p:blipFill>
          <p:spPr>
            <a:xfrm>
              <a:off x="4825874" y="1933575"/>
              <a:ext cx="876300" cy="133500"/>
            </a:xfrm>
            <a:prstGeom prst="rect">
              <a:avLst/>
            </a:prstGeom>
            <a:noFill/>
            <a:ln>
              <a:noFill/>
            </a:ln>
          </p:spPr>
        </p:pic>
        <p:pic>
          <p:nvPicPr>
            <p:cNvPr id="65" name="Google Shape;65;p15"/>
            <p:cNvPicPr preferRelativeResize="0"/>
            <p:nvPr/>
          </p:nvPicPr>
          <p:blipFill rotWithShape="1">
            <a:blip r:embed="rId5">
              <a:alphaModFix/>
            </a:blip>
            <a:srcRect b="0" l="0" r="0" t="0"/>
            <a:stretch/>
          </p:blipFill>
          <p:spPr>
            <a:xfrm>
              <a:off x="6124575" y="2381250"/>
              <a:ext cx="133500" cy="590700"/>
            </a:xfrm>
            <a:prstGeom prst="rect">
              <a:avLst/>
            </a:prstGeom>
            <a:noFill/>
            <a:ln>
              <a:noFill/>
            </a:ln>
          </p:spPr>
        </p:pic>
        <p:pic>
          <p:nvPicPr>
            <p:cNvPr id="66" name="Google Shape;66;p15"/>
            <p:cNvPicPr preferRelativeResize="0"/>
            <p:nvPr/>
          </p:nvPicPr>
          <p:blipFill rotWithShape="1">
            <a:blip r:embed="rId6">
              <a:alphaModFix/>
            </a:blip>
            <a:srcRect b="0" l="0" r="0" t="0"/>
            <a:stretch/>
          </p:blipFill>
          <p:spPr>
            <a:xfrm>
              <a:off x="6662738" y="1514475"/>
              <a:ext cx="881100" cy="495300"/>
            </a:xfrm>
            <a:prstGeom prst="rect">
              <a:avLst/>
            </a:prstGeom>
            <a:noFill/>
            <a:ln>
              <a:noFill/>
            </a:ln>
          </p:spPr>
        </p:pic>
        <p:pic>
          <p:nvPicPr>
            <p:cNvPr id="67" name="Google Shape;67;p15"/>
            <p:cNvPicPr preferRelativeResize="0"/>
            <p:nvPr/>
          </p:nvPicPr>
          <p:blipFill rotWithShape="1">
            <a:blip r:embed="rId7">
              <a:alphaModFix/>
            </a:blip>
            <a:srcRect b="0" l="0" r="0" t="0"/>
            <a:stretch/>
          </p:blipFill>
          <p:spPr>
            <a:xfrm>
              <a:off x="6657975" y="1990725"/>
              <a:ext cx="881100" cy="881100"/>
            </a:xfrm>
            <a:prstGeom prst="rect">
              <a:avLst/>
            </a:prstGeom>
            <a:noFill/>
            <a:ln>
              <a:noFill/>
            </a:ln>
          </p:spPr>
        </p:pic>
        <p:pic>
          <p:nvPicPr>
            <p:cNvPr id="68" name="Google Shape;68;p15"/>
            <p:cNvPicPr preferRelativeResize="0"/>
            <p:nvPr/>
          </p:nvPicPr>
          <p:blipFill rotWithShape="1">
            <a:blip r:embed="rId8">
              <a:alphaModFix/>
            </a:blip>
            <a:srcRect b="0" l="0" r="0" t="0"/>
            <a:stretch/>
          </p:blipFill>
          <p:spPr>
            <a:xfrm>
              <a:off x="7929987" y="1982143"/>
              <a:ext cx="133500" cy="400200"/>
            </a:xfrm>
            <a:prstGeom prst="rect">
              <a:avLst/>
            </a:prstGeom>
            <a:noFill/>
            <a:ln>
              <a:noFill/>
            </a:ln>
          </p:spPr>
        </p:pic>
      </p:grpSp>
      <p:sp>
        <p:nvSpPr>
          <p:cNvPr id="69" name="Google Shape;69;p15"/>
          <p:cNvSpPr txBox="1"/>
          <p:nvPr/>
        </p:nvSpPr>
        <p:spPr>
          <a:xfrm>
            <a:off x="381000" y="571500"/>
            <a:ext cx="8382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FFFFFF"/>
                </a:solidFill>
                <a:latin typeface="Arial"/>
                <a:ea typeface="Arial"/>
                <a:cs typeface="Arial"/>
                <a:sym typeface="Arial"/>
              </a:rPr>
              <a:t>System Architecture &amp; Deployment</a:t>
            </a:r>
            <a:endParaRPr b="1" sz="3200">
              <a:solidFill>
                <a:srgbClr val="FFFFFF"/>
              </a:solidFill>
              <a:latin typeface="Arial"/>
              <a:ea typeface="Arial"/>
              <a:cs typeface="Arial"/>
              <a:sym typeface="Arial"/>
            </a:endParaRPr>
          </a:p>
          <a:p>
            <a:pPr indent="0" lvl="0" marL="0" rtl="0" algn="l">
              <a:spcBef>
                <a:spcPts val="600"/>
              </a:spcBef>
              <a:spcAft>
                <a:spcPts val="600"/>
              </a:spcAft>
              <a:buNone/>
            </a:pPr>
            <a:r>
              <a:rPr b="0" lang="en" sz="1400">
                <a:solidFill>
                  <a:srgbClr val="ADADAD"/>
                </a:solidFill>
                <a:latin typeface="Arial"/>
                <a:ea typeface="Arial"/>
                <a:cs typeface="Arial"/>
                <a:sym typeface="Arial"/>
              </a:rPr>
              <a:t>Zero-downtime, containerized ML pipeline.</a:t>
            </a:r>
            <a:endParaRPr b="0" sz="1400">
              <a:solidFill>
                <a:srgbClr val="ADADAD"/>
              </a:solidFill>
              <a:latin typeface="Arial"/>
              <a:ea typeface="Arial"/>
              <a:cs typeface="Arial"/>
              <a:sym typeface="Arial"/>
            </a:endParaRPr>
          </a:p>
        </p:txBody>
      </p:sp>
      <p:grpSp>
        <p:nvGrpSpPr>
          <p:cNvPr id="70" name="Google Shape;70;p15"/>
          <p:cNvGrpSpPr/>
          <p:nvPr/>
        </p:nvGrpSpPr>
        <p:grpSpPr>
          <a:xfrm>
            <a:off x="476250" y="1524000"/>
            <a:ext cx="1143000" cy="1571775"/>
            <a:chOff x="-381000" y="-285750"/>
            <a:chExt cx="1143000" cy="1571775"/>
          </a:xfrm>
        </p:grpSpPr>
        <p:sp>
          <p:nvSpPr>
            <p:cNvPr id="71" name="Google Shape;71;p15"/>
            <p:cNvSpPr/>
            <p:nvPr/>
          </p:nvSpPr>
          <p:spPr>
            <a:xfrm>
              <a:off x="-285750" y="-285750"/>
              <a:ext cx="952500" cy="952500"/>
            </a:xfrm>
            <a:prstGeom prst="roundRect">
              <a:avLst>
                <a:gd fmla="val 12000" name="adj"/>
              </a:avLst>
            </a:prstGeom>
            <a:solidFill>
              <a:srgbClr val="333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5"/>
            <p:cNvSpPr txBox="1"/>
            <p:nvPr/>
          </p:nvSpPr>
          <p:spPr>
            <a:xfrm>
              <a:off x="-285750" y="-215646"/>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code</a:t>
              </a:r>
              <a:endParaRPr b="0" sz="2400">
                <a:solidFill>
                  <a:srgbClr val="FFFFFF"/>
                </a:solidFill>
                <a:latin typeface="Material Icons"/>
                <a:ea typeface="Material Icons"/>
                <a:cs typeface="Material Icons"/>
                <a:sym typeface="Material Icons"/>
              </a:endParaRPr>
            </a:p>
          </p:txBody>
        </p:sp>
        <p:sp>
          <p:nvSpPr>
            <p:cNvPr id="73" name="Google Shape;73;p15"/>
            <p:cNvSpPr txBox="1"/>
            <p:nvPr/>
          </p:nvSpPr>
          <p:spPr>
            <a:xfrm>
              <a:off x="-381000" y="809625"/>
              <a:ext cx="1143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Arial"/>
                  <a:ea typeface="Arial"/>
                  <a:cs typeface="Arial"/>
                  <a:sym typeface="Arial"/>
                </a:rPr>
                <a:t>GitHub</a:t>
              </a:r>
              <a:endParaRPr b="1" sz="1100">
                <a:solidFill>
                  <a:srgbClr val="FFFFFF"/>
                </a:solidFill>
                <a:latin typeface="Arial"/>
                <a:ea typeface="Arial"/>
                <a:cs typeface="Arial"/>
                <a:sym typeface="Arial"/>
              </a:endParaRPr>
            </a:p>
            <a:p>
              <a:pPr indent="0" lvl="0" marL="0" rtl="0" algn="ctr">
                <a:spcBef>
                  <a:spcPts val="0"/>
                </a:spcBef>
                <a:spcAft>
                  <a:spcPts val="0"/>
                </a:spcAft>
                <a:buNone/>
              </a:pPr>
              <a:r>
                <a:rPr b="0" lang="en" sz="900">
                  <a:solidFill>
                    <a:srgbClr val="ADADAD"/>
                  </a:solidFill>
                  <a:latin typeface="Arial"/>
                  <a:ea typeface="Arial"/>
                  <a:cs typeface="Arial"/>
                  <a:sym typeface="Arial"/>
                </a:rPr>
                <a:t>CI/CD Actions</a:t>
              </a:r>
              <a:endParaRPr b="0" sz="900">
                <a:solidFill>
                  <a:srgbClr val="ADADAD"/>
                </a:solidFill>
                <a:latin typeface="Arial"/>
                <a:ea typeface="Arial"/>
                <a:cs typeface="Arial"/>
                <a:sym typeface="Arial"/>
              </a:endParaRPr>
            </a:p>
          </p:txBody>
        </p:sp>
      </p:grpSp>
      <p:grpSp>
        <p:nvGrpSpPr>
          <p:cNvPr id="74" name="Google Shape;74;p15"/>
          <p:cNvGrpSpPr/>
          <p:nvPr/>
        </p:nvGrpSpPr>
        <p:grpSpPr>
          <a:xfrm>
            <a:off x="1809750" y="1524000"/>
            <a:ext cx="1143000" cy="1571775"/>
            <a:chOff x="-1143000" y="-285750"/>
            <a:chExt cx="1143000" cy="1571775"/>
          </a:xfrm>
        </p:grpSpPr>
        <p:sp>
          <p:nvSpPr>
            <p:cNvPr id="75" name="Google Shape;75;p15"/>
            <p:cNvSpPr/>
            <p:nvPr/>
          </p:nvSpPr>
          <p:spPr>
            <a:xfrm>
              <a:off x="-1047750" y="-285750"/>
              <a:ext cx="952500" cy="952500"/>
            </a:xfrm>
            <a:prstGeom prst="roundRect">
              <a:avLst>
                <a:gd fmla="val 12000" name="adj"/>
              </a:avLst>
            </a:prstGeom>
            <a:solidFill>
              <a:srgbClr val="333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txBox="1"/>
            <p:nvPr/>
          </p:nvSpPr>
          <p:spPr>
            <a:xfrm>
              <a:off x="-1047750" y="-180594"/>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layers</a:t>
              </a:r>
              <a:endParaRPr b="0" sz="2400">
                <a:solidFill>
                  <a:srgbClr val="FFFFFF"/>
                </a:solidFill>
                <a:latin typeface="Material Icons"/>
                <a:ea typeface="Material Icons"/>
                <a:cs typeface="Material Icons"/>
                <a:sym typeface="Material Icons"/>
              </a:endParaRPr>
            </a:p>
          </p:txBody>
        </p:sp>
        <p:sp>
          <p:nvSpPr>
            <p:cNvPr id="77" name="Google Shape;77;p15"/>
            <p:cNvSpPr txBox="1"/>
            <p:nvPr/>
          </p:nvSpPr>
          <p:spPr>
            <a:xfrm>
              <a:off x="-1143000" y="809625"/>
              <a:ext cx="1143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Arial"/>
                  <a:ea typeface="Arial"/>
                  <a:cs typeface="Arial"/>
                  <a:sym typeface="Arial"/>
                </a:rPr>
                <a:t>Docker</a:t>
              </a:r>
              <a:endParaRPr b="1" sz="1100">
                <a:solidFill>
                  <a:srgbClr val="FFFFFF"/>
                </a:solidFill>
                <a:latin typeface="Arial"/>
                <a:ea typeface="Arial"/>
                <a:cs typeface="Arial"/>
                <a:sym typeface="Arial"/>
              </a:endParaRPr>
            </a:p>
            <a:p>
              <a:pPr indent="0" lvl="0" marL="0" rtl="0" algn="ctr">
                <a:spcBef>
                  <a:spcPts val="0"/>
                </a:spcBef>
                <a:spcAft>
                  <a:spcPts val="0"/>
                </a:spcAft>
                <a:buNone/>
              </a:pPr>
              <a:r>
                <a:rPr b="0" lang="en" sz="900">
                  <a:solidFill>
                    <a:srgbClr val="ADADAD"/>
                  </a:solidFill>
                  <a:latin typeface="Arial"/>
                  <a:ea typeface="Arial"/>
                  <a:cs typeface="Arial"/>
                  <a:sym typeface="Arial"/>
                </a:rPr>
                <a:t>Multi-Stage Build</a:t>
              </a:r>
              <a:endParaRPr b="0" sz="900">
                <a:solidFill>
                  <a:srgbClr val="ADADAD"/>
                </a:solidFill>
                <a:latin typeface="Arial"/>
                <a:ea typeface="Arial"/>
                <a:cs typeface="Arial"/>
                <a:sym typeface="Arial"/>
              </a:endParaRPr>
            </a:p>
          </p:txBody>
        </p:sp>
      </p:grpSp>
      <p:grpSp>
        <p:nvGrpSpPr>
          <p:cNvPr id="78" name="Google Shape;78;p15"/>
          <p:cNvGrpSpPr/>
          <p:nvPr/>
        </p:nvGrpSpPr>
        <p:grpSpPr>
          <a:xfrm>
            <a:off x="3095625" y="1524000"/>
            <a:ext cx="1143000" cy="1571775"/>
            <a:chOff x="3095625" y="1524000"/>
            <a:chExt cx="1143000" cy="1571775"/>
          </a:xfrm>
        </p:grpSpPr>
        <p:sp>
          <p:nvSpPr>
            <p:cNvPr id="79" name="Google Shape;79;p15"/>
            <p:cNvSpPr/>
            <p:nvPr/>
          </p:nvSpPr>
          <p:spPr>
            <a:xfrm>
              <a:off x="3190875" y="1524000"/>
              <a:ext cx="952500" cy="952500"/>
            </a:xfrm>
            <a:prstGeom prst="roundRect">
              <a:avLst>
                <a:gd fmla="val 12000" name="adj"/>
              </a:avLst>
            </a:prstGeom>
            <a:solidFill>
              <a:srgbClr val="333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txBox="1"/>
            <p:nvPr/>
          </p:nvSpPr>
          <p:spPr>
            <a:xfrm>
              <a:off x="3190875" y="1559052"/>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cloud_queue</a:t>
              </a:r>
              <a:endParaRPr b="0" sz="2400">
                <a:solidFill>
                  <a:srgbClr val="FFFFFF"/>
                </a:solidFill>
                <a:latin typeface="Material Icons"/>
                <a:ea typeface="Material Icons"/>
                <a:cs typeface="Material Icons"/>
                <a:sym typeface="Material Icons"/>
              </a:endParaRPr>
            </a:p>
          </p:txBody>
        </p:sp>
        <p:sp>
          <p:nvSpPr>
            <p:cNvPr id="81" name="Google Shape;81;p15"/>
            <p:cNvSpPr txBox="1"/>
            <p:nvPr/>
          </p:nvSpPr>
          <p:spPr>
            <a:xfrm>
              <a:off x="3095625" y="2619375"/>
              <a:ext cx="1143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Arial"/>
                  <a:ea typeface="Arial"/>
                  <a:cs typeface="Arial"/>
                  <a:sym typeface="Arial"/>
                </a:rPr>
                <a:t>Render</a:t>
              </a:r>
              <a:endParaRPr b="1" sz="1100">
                <a:solidFill>
                  <a:srgbClr val="FFFFFF"/>
                </a:solidFill>
                <a:latin typeface="Arial"/>
                <a:ea typeface="Arial"/>
                <a:cs typeface="Arial"/>
                <a:sym typeface="Arial"/>
              </a:endParaRPr>
            </a:p>
            <a:p>
              <a:pPr indent="0" lvl="0" marL="0" rtl="0" algn="ctr">
                <a:spcBef>
                  <a:spcPts val="0"/>
                </a:spcBef>
                <a:spcAft>
                  <a:spcPts val="0"/>
                </a:spcAft>
                <a:buNone/>
              </a:pPr>
              <a:r>
                <a:rPr b="0" lang="en" sz="900">
                  <a:solidFill>
                    <a:srgbClr val="ADADAD"/>
                  </a:solidFill>
                  <a:latin typeface="Arial"/>
                  <a:ea typeface="Arial"/>
                  <a:cs typeface="Arial"/>
                  <a:sym typeface="Arial"/>
                </a:rPr>
                <a:t>Hosting</a:t>
              </a:r>
              <a:endParaRPr b="0" sz="900">
                <a:solidFill>
                  <a:srgbClr val="ADADAD"/>
                </a:solidFill>
                <a:latin typeface="Arial"/>
                <a:ea typeface="Arial"/>
                <a:cs typeface="Arial"/>
                <a:sym typeface="Arial"/>
              </a:endParaRPr>
            </a:p>
          </p:txBody>
        </p:sp>
      </p:grpSp>
      <p:grpSp>
        <p:nvGrpSpPr>
          <p:cNvPr id="82" name="Google Shape;82;p15"/>
          <p:cNvGrpSpPr/>
          <p:nvPr/>
        </p:nvGrpSpPr>
        <p:grpSpPr>
          <a:xfrm>
            <a:off x="4381500" y="762000"/>
            <a:ext cx="4191000" cy="3587624"/>
            <a:chOff x="4381500" y="762000"/>
            <a:chExt cx="4191000" cy="3587624"/>
          </a:xfrm>
        </p:grpSpPr>
        <p:sp>
          <p:nvSpPr>
            <p:cNvPr id="83" name="Google Shape;83;p15"/>
            <p:cNvSpPr/>
            <p:nvPr/>
          </p:nvSpPr>
          <p:spPr>
            <a:xfrm>
              <a:off x="4476750" y="1524000"/>
              <a:ext cx="952500" cy="952500"/>
            </a:xfrm>
            <a:prstGeom prst="roundRect">
              <a:avLst>
                <a:gd fmla="val 12000" name="adj"/>
              </a:avLst>
            </a:prstGeom>
            <a:solidFill>
              <a:srgbClr val="33333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5"/>
            <p:cNvSpPr txBox="1"/>
            <p:nvPr/>
          </p:nvSpPr>
          <p:spPr>
            <a:xfrm>
              <a:off x="4476750" y="1594104"/>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bolt</a:t>
              </a:r>
              <a:endParaRPr b="0" sz="2400">
                <a:solidFill>
                  <a:srgbClr val="FFFFFF"/>
                </a:solidFill>
                <a:latin typeface="Material Icons"/>
                <a:ea typeface="Material Icons"/>
                <a:cs typeface="Material Icons"/>
                <a:sym typeface="Material Icons"/>
              </a:endParaRPr>
            </a:p>
          </p:txBody>
        </p:sp>
        <p:sp>
          <p:nvSpPr>
            <p:cNvPr id="85" name="Google Shape;85;p15"/>
            <p:cNvSpPr txBox="1"/>
            <p:nvPr/>
          </p:nvSpPr>
          <p:spPr>
            <a:xfrm>
              <a:off x="4381500" y="2619375"/>
              <a:ext cx="1143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Arial"/>
                  <a:ea typeface="Arial"/>
                  <a:cs typeface="Arial"/>
                  <a:sym typeface="Arial"/>
                </a:rPr>
                <a:t>FastAPI</a:t>
              </a:r>
              <a:endParaRPr b="1" sz="1100">
                <a:solidFill>
                  <a:srgbClr val="FFFFFF"/>
                </a:solidFill>
                <a:latin typeface="Arial"/>
                <a:ea typeface="Arial"/>
                <a:cs typeface="Arial"/>
                <a:sym typeface="Arial"/>
              </a:endParaRPr>
            </a:p>
            <a:p>
              <a:pPr indent="0" lvl="0" marL="0" rtl="0" algn="ctr">
                <a:spcBef>
                  <a:spcPts val="0"/>
                </a:spcBef>
                <a:spcAft>
                  <a:spcPts val="0"/>
                </a:spcAft>
                <a:buNone/>
              </a:pPr>
              <a:r>
                <a:rPr b="0" lang="en" sz="900">
                  <a:solidFill>
                    <a:srgbClr val="ADADAD"/>
                  </a:solidFill>
                  <a:latin typeface="Arial"/>
                  <a:ea typeface="Arial"/>
                  <a:cs typeface="Arial"/>
                  <a:sym typeface="Arial"/>
                </a:rPr>
                <a:t>Async API Layer</a:t>
              </a:r>
              <a:endParaRPr b="0" sz="900">
                <a:solidFill>
                  <a:srgbClr val="ADADAD"/>
                </a:solidFill>
                <a:latin typeface="Arial"/>
                <a:ea typeface="Arial"/>
                <a:cs typeface="Arial"/>
                <a:sym typeface="Arial"/>
              </a:endParaRPr>
            </a:p>
          </p:txBody>
        </p:sp>
        <p:sp>
          <p:nvSpPr>
            <p:cNvPr id="86" name="Google Shape;86;p15"/>
            <p:cNvSpPr/>
            <p:nvPr/>
          </p:nvSpPr>
          <p:spPr>
            <a:xfrm>
              <a:off x="5715000" y="1619250"/>
              <a:ext cx="952500" cy="762000"/>
            </a:xfrm>
            <a:prstGeom prst="roundRect">
              <a:avLst>
                <a:gd fmla="val 15000" name="adj"/>
              </a:avLst>
            </a:prstGeom>
            <a:solidFill>
              <a:srgbClr val="4B556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txBox="1"/>
            <p:nvPr/>
          </p:nvSpPr>
          <p:spPr>
            <a:xfrm>
              <a:off x="5715000" y="1689354"/>
              <a:ext cx="952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hub</a:t>
              </a:r>
              <a:endParaRPr b="0" sz="2400">
                <a:solidFill>
                  <a:srgbClr val="FFFFFF"/>
                </a:solidFill>
                <a:latin typeface="Material Icons"/>
                <a:ea typeface="Material Icons"/>
                <a:cs typeface="Material Icons"/>
                <a:sym typeface="Material Icons"/>
              </a:endParaRPr>
            </a:p>
          </p:txBody>
        </p:sp>
        <p:sp>
          <p:nvSpPr>
            <p:cNvPr id="88" name="Google Shape;88;p15"/>
            <p:cNvSpPr txBox="1"/>
            <p:nvPr/>
          </p:nvSpPr>
          <p:spPr>
            <a:xfrm>
              <a:off x="5619750" y="1308200"/>
              <a:ext cx="1143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FFFFF"/>
                  </a:solidFill>
                  <a:latin typeface="Arial"/>
                  <a:ea typeface="Arial"/>
                  <a:cs typeface="Arial"/>
                  <a:sym typeface="Arial"/>
                </a:rPr>
                <a:t>Apache </a:t>
              </a:r>
              <a:r>
                <a:rPr b="1" lang="en" sz="1100">
                  <a:solidFill>
                    <a:srgbClr val="FFFFFF"/>
                  </a:solidFill>
                  <a:latin typeface="Arial"/>
                  <a:ea typeface="Arial"/>
                  <a:cs typeface="Arial"/>
                  <a:sym typeface="Arial"/>
                </a:rPr>
                <a:t>Kafka</a:t>
              </a:r>
              <a:endParaRPr b="1" sz="1100">
                <a:solidFill>
                  <a:srgbClr val="FFFFFF"/>
                </a:solidFill>
                <a:latin typeface="Arial"/>
                <a:ea typeface="Arial"/>
                <a:cs typeface="Arial"/>
                <a:sym typeface="Arial"/>
              </a:endParaRPr>
            </a:p>
          </p:txBody>
        </p:sp>
        <p:sp>
          <p:nvSpPr>
            <p:cNvPr id="89" name="Google Shape;89;p15"/>
            <p:cNvSpPr/>
            <p:nvPr/>
          </p:nvSpPr>
          <p:spPr>
            <a:xfrm>
              <a:off x="7524750" y="762000"/>
              <a:ext cx="952500" cy="762000"/>
            </a:xfrm>
            <a:prstGeom prst="roundRect">
              <a:avLst>
                <a:gd fmla="val 15000" name="adj"/>
              </a:avLst>
            </a:prstGeom>
            <a:solidFill>
              <a:srgbClr val="1F29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5"/>
            <p:cNvSpPr txBox="1"/>
            <p:nvPr/>
          </p:nvSpPr>
          <p:spPr>
            <a:xfrm>
              <a:off x="7524750" y="832104"/>
              <a:ext cx="952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settings_input_component</a:t>
              </a:r>
              <a:endParaRPr b="0" sz="2400">
                <a:solidFill>
                  <a:srgbClr val="FFFFFF"/>
                </a:solidFill>
                <a:latin typeface="Material Icons"/>
                <a:ea typeface="Material Icons"/>
                <a:cs typeface="Material Icons"/>
                <a:sym typeface="Material Icons"/>
              </a:endParaRPr>
            </a:p>
          </p:txBody>
        </p:sp>
        <p:sp>
          <p:nvSpPr>
            <p:cNvPr id="91" name="Google Shape;91;p15"/>
            <p:cNvSpPr txBox="1"/>
            <p:nvPr/>
          </p:nvSpPr>
          <p:spPr>
            <a:xfrm>
              <a:off x="7429500" y="1524000"/>
              <a:ext cx="1143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Arial"/>
                  <a:ea typeface="Arial"/>
                  <a:cs typeface="Arial"/>
                  <a:sym typeface="Arial"/>
                </a:rPr>
                <a:t>Data Ingestor</a:t>
              </a:r>
              <a:endParaRPr b="1" sz="900">
                <a:solidFill>
                  <a:srgbClr val="FFFFFF"/>
                </a:solidFill>
                <a:latin typeface="Arial"/>
                <a:ea typeface="Arial"/>
                <a:cs typeface="Arial"/>
                <a:sym typeface="Arial"/>
              </a:endParaRPr>
            </a:p>
            <a:p>
              <a:pPr indent="0" lvl="0" marL="0" rtl="0" algn="ctr">
                <a:spcBef>
                  <a:spcPts val="0"/>
                </a:spcBef>
                <a:spcAft>
                  <a:spcPts val="0"/>
                </a:spcAft>
                <a:buNone/>
              </a:pPr>
              <a:r>
                <a:rPr b="0" lang="en" sz="800">
                  <a:solidFill>
                    <a:srgbClr val="ADADAD"/>
                  </a:solidFill>
                  <a:latin typeface="Arial"/>
                  <a:ea typeface="Arial"/>
                  <a:cs typeface="Arial"/>
                  <a:sym typeface="Arial"/>
                </a:rPr>
                <a:t>Validation</a:t>
              </a:r>
              <a:endParaRPr b="0" sz="800">
                <a:solidFill>
                  <a:srgbClr val="ADADAD"/>
                </a:solidFill>
                <a:latin typeface="Arial"/>
                <a:ea typeface="Arial"/>
                <a:cs typeface="Arial"/>
                <a:sym typeface="Arial"/>
              </a:endParaRPr>
            </a:p>
          </p:txBody>
        </p:sp>
        <p:sp>
          <p:nvSpPr>
            <p:cNvPr id="92" name="Google Shape;92;p15"/>
            <p:cNvSpPr/>
            <p:nvPr/>
          </p:nvSpPr>
          <p:spPr>
            <a:xfrm>
              <a:off x="7524750" y="2381250"/>
              <a:ext cx="952500" cy="762000"/>
            </a:xfrm>
            <a:prstGeom prst="roundRect">
              <a:avLst>
                <a:gd fmla="val 15000" name="adj"/>
              </a:avLst>
            </a:prstGeom>
            <a:solidFill>
              <a:srgbClr val="1F293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7524750" y="2451354"/>
              <a:ext cx="952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400">
                  <a:solidFill>
                    <a:srgbClr val="FFFFFF"/>
                  </a:solidFill>
                  <a:latin typeface="Material Icons"/>
                  <a:ea typeface="Material Icons"/>
                  <a:cs typeface="Material Icons"/>
                  <a:sym typeface="Material Icons"/>
                </a:rPr>
                <a:t>model_training</a:t>
              </a:r>
              <a:endParaRPr b="0" sz="2400">
                <a:solidFill>
                  <a:srgbClr val="FFFFFF"/>
                </a:solidFill>
                <a:latin typeface="Material Icons"/>
                <a:ea typeface="Material Icons"/>
                <a:cs typeface="Material Icons"/>
                <a:sym typeface="Material Icons"/>
              </a:endParaRPr>
            </a:p>
          </p:txBody>
        </p:sp>
        <p:sp>
          <p:nvSpPr>
            <p:cNvPr id="94" name="Google Shape;94;p15"/>
            <p:cNvSpPr txBox="1"/>
            <p:nvPr/>
          </p:nvSpPr>
          <p:spPr>
            <a:xfrm>
              <a:off x="7429500" y="3143250"/>
              <a:ext cx="1143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Arial"/>
                  <a:ea typeface="Arial"/>
                  <a:cs typeface="Arial"/>
                  <a:sym typeface="Arial"/>
                </a:rPr>
                <a:t>Model Worker</a:t>
              </a:r>
              <a:endParaRPr b="1" sz="900">
                <a:solidFill>
                  <a:srgbClr val="FFFFFF"/>
                </a:solidFill>
                <a:latin typeface="Arial"/>
                <a:ea typeface="Arial"/>
                <a:cs typeface="Arial"/>
                <a:sym typeface="Arial"/>
              </a:endParaRPr>
            </a:p>
          </p:txBody>
        </p:sp>
        <p:sp>
          <p:nvSpPr>
            <p:cNvPr id="95" name="Google Shape;95;p15"/>
            <p:cNvSpPr/>
            <p:nvPr/>
          </p:nvSpPr>
          <p:spPr>
            <a:xfrm>
              <a:off x="5619750" y="3016124"/>
              <a:ext cx="1143000" cy="952500"/>
            </a:xfrm>
            <a:prstGeom prst="roundRect">
              <a:avLst>
                <a:gd fmla="val 8000" name="adj"/>
              </a:avLst>
            </a:prstGeom>
            <a:solidFill>
              <a:srgbClr val="1E3A8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5619750" y="3097909"/>
              <a:ext cx="1143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2800">
                  <a:solidFill>
                    <a:srgbClr val="FFFFFF"/>
                  </a:solidFill>
                  <a:latin typeface="Material Icons"/>
                  <a:ea typeface="Material Icons"/>
                  <a:cs typeface="Material Icons"/>
                  <a:sym typeface="Material Icons"/>
                </a:rPr>
                <a:t>cloud</a:t>
              </a:r>
              <a:endParaRPr b="0" sz="2800">
                <a:solidFill>
                  <a:srgbClr val="FFFFFF"/>
                </a:solidFill>
                <a:latin typeface="Material Icons"/>
                <a:ea typeface="Material Icons"/>
                <a:cs typeface="Material Icons"/>
                <a:sym typeface="Material Icons"/>
              </a:endParaRPr>
            </a:p>
          </p:txBody>
        </p:sp>
        <p:sp>
          <p:nvSpPr>
            <p:cNvPr id="97" name="Google Shape;97;p15"/>
            <p:cNvSpPr txBox="1"/>
            <p:nvPr/>
          </p:nvSpPr>
          <p:spPr>
            <a:xfrm>
              <a:off x="5619750" y="3968624"/>
              <a:ext cx="1143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Arial"/>
                  <a:ea typeface="Arial"/>
                  <a:cs typeface="Arial"/>
                  <a:sym typeface="Arial"/>
                </a:rPr>
                <a:t>Cloudflare R2</a:t>
              </a:r>
              <a:endParaRPr b="1" sz="1000">
                <a:solidFill>
                  <a:srgbClr val="FFFFFF"/>
                </a:solidFill>
                <a:latin typeface="Arial"/>
                <a:ea typeface="Arial"/>
                <a:cs typeface="Arial"/>
                <a:sym typeface="Arial"/>
              </a:endParaRPr>
            </a:p>
            <a:p>
              <a:pPr indent="0" lvl="0" marL="0" rtl="0" algn="ctr">
                <a:spcBef>
                  <a:spcPts val="0"/>
                </a:spcBef>
                <a:spcAft>
                  <a:spcPts val="0"/>
                </a:spcAft>
                <a:buNone/>
              </a:pPr>
              <a:r>
                <a:rPr b="0" lang="en" sz="800">
                  <a:solidFill>
                    <a:srgbClr val="ADADAD"/>
                  </a:solidFill>
                  <a:latin typeface="Arial"/>
                  <a:ea typeface="Arial"/>
                  <a:cs typeface="Arial"/>
                  <a:sym typeface="Arial"/>
                </a:rPr>
                <a:t>Snapshots &amp; Registry</a:t>
              </a:r>
              <a:endParaRPr b="0" sz="800">
                <a:solidFill>
                  <a:srgbClr val="ADADAD"/>
                </a:solidFill>
                <a:latin typeface="Arial"/>
                <a:ea typeface="Arial"/>
                <a:cs typeface="Arial"/>
                <a:sym typeface="Arial"/>
              </a:endParaRPr>
            </a:p>
          </p:txBody>
        </p:sp>
      </p:grpSp>
      <p:grpSp>
        <p:nvGrpSpPr>
          <p:cNvPr id="98" name="Google Shape;98;p15"/>
          <p:cNvGrpSpPr/>
          <p:nvPr/>
        </p:nvGrpSpPr>
        <p:grpSpPr>
          <a:xfrm>
            <a:off x="380990" y="3382777"/>
            <a:ext cx="4944999" cy="1379487"/>
            <a:chOff x="380997" y="4153650"/>
            <a:chExt cx="17994900" cy="1143000"/>
          </a:xfrm>
        </p:grpSpPr>
        <p:sp>
          <p:nvSpPr>
            <p:cNvPr id="99" name="Google Shape;99;p15"/>
            <p:cNvSpPr/>
            <p:nvPr/>
          </p:nvSpPr>
          <p:spPr>
            <a:xfrm>
              <a:off x="380997" y="4153650"/>
              <a:ext cx="17994900" cy="1143000"/>
            </a:xfrm>
            <a:prstGeom prst="roundRect">
              <a:avLst>
                <a:gd fmla="val 10000" name="adj"/>
              </a:avLst>
            </a:prstGeom>
            <a:solidFill>
              <a:srgbClr val="2A2A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789970" y="4248900"/>
              <a:ext cx="8384400" cy="952500"/>
            </a:xfrm>
            <a:prstGeom prst="rect">
              <a:avLst/>
            </a:prstGeom>
            <a:solidFill>
              <a:srgbClr val="000000">
                <a:alpha val="0"/>
              </a:srgbClr>
            </a:solidFill>
            <a:ln>
              <a:noFill/>
            </a:ln>
          </p:spPr>
          <p:txBody>
            <a:bodyPr anchorCtr="0" anchor="ctr" bIns="0" lIns="0" spcFirstLastPara="1" rIns="0" wrap="square" tIns="0">
              <a:noAutofit/>
            </a:bodyPr>
            <a:lstStyle/>
            <a:p>
              <a:pPr indent="-285750" lvl="0" marL="457200" rtl="0" algn="l">
                <a:spcBef>
                  <a:spcPts val="0"/>
                </a:spcBef>
                <a:spcAft>
                  <a:spcPts val="0"/>
                </a:spcAft>
                <a:buClr>
                  <a:srgbClr val="FFFFFF"/>
                </a:buClr>
                <a:buSzPts val="900"/>
                <a:buFont typeface="Arial"/>
                <a:buChar char="●"/>
              </a:pPr>
              <a:r>
                <a:rPr b="1" lang="en" sz="900">
                  <a:solidFill>
                    <a:srgbClr val="3B82F6"/>
                  </a:solidFill>
                  <a:latin typeface="Arial"/>
                  <a:ea typeface="Arial"/>
                  <a:cs typeface="Arial"/>
                  <a:sym typeface="Arial"/>
                </a:rPr>
                <a:t>Decoupled Data Pipeline:</a:t>
              </a:r>
              <a:r>
                <a:rPr lang="en" sz="900">
                  <a:solidFill>
                    <a:srgbClr val="FFFFFF"/>
                  </a:solidFill>
                  <a:latin typeface="Arial"/>
                  <a:ea typeface="Arial"/>
                  <a:cs typeface="Arial"/>
                  <a:sym typeface="Arial"/>
                </a:rPr>
                <a:t> Real-time events are streamed to Kafka, ensuring the primary API remains responsive.</a:t>
              </a:r>
              <a:endParaRPr sz="900">
                <a:solidFill>
                  <a:srgbClr val="FFFFFF"/>
                </a:solidFill>
                <a:latin typeface="Arial"/>
                <a:ea typeface="Arial"/>
                <a:cs typeface="Arial"/>
                <a:sym typeface="Arial"/>
              </a:endParaRPr>
            </a:p>
            <a:p>
              <a:pPr indent="-285750" lvl="0" marL="457200" rtl="0" algn="l">
                <a:spcBef>
                  <a:spcPts val="600"/>
                </a:spcBef>
                <a:spcAft>
                  <a:spcPts val="0"/>
                </a:spcAft>
                <a:buClr>
                  <a:srgbClr val="FFFFFF"/>
                </a:buClr>
                <a:buSzPts val="900"/>
                <a:buFont typeface="Arial"/>
                <a:buChar char="●"/>
              </a:pPr>
              <a:r>
                <a:rPr b="1" lang="en" sz="900">
                  <a:solidFill>
                    <a:srgbClr val="3B82F6"/>
                  </a:solidFill>
                  <a:latin typeface="Arial"/>
                  <a:ea typeface="Arial"/>
                  <a:cs typeface="Arial"/>
                  <a:sym typeface="Arial"/>
                </a:rPr>
                <a:t>Scalable R2 Storage:</a:t>
              </a:r>
              <a:r>
                <a:rPr lang="en" sz="900">
                  <a:solidFill>
                    <a:srgbClr val="FFFFFF"/>
                  </a:solidFill>
                  <a:latin typeface="Arial"/>
                  <a:ea typeface="Arial"/>
                  <a:cs typeface="Arial"/>
                  <a:sym typeface="Arial"/>
                </a:rPr>
                <a:t> Durable data lake in Cloudflare R2 stores Parquet snapshots and versioned model artifacts.</a:t>
              </a:r>
              <a:endParaRPr sz="900">
                <a:solidFill>
                  <a:srgbClr val="FFFFFF"/>
                </a:solidFill>
                <a:latin typeface="Arial"/>
                <a:ea typeface="Arial"/>
                <a:cs typeface="Arial"/>
                <a:sym typeface="Arial"/>
              </a:endParaRPr>
            </a:p>
          </p:txBody>
        </p:sp>
        <p:sp>
          <p:nvSpPr>
            <p:cNvPr id="101" name="Google Shape;101;p15"/>
            <p:cNvSpPr txBox="1"/>
            <p:nvPr/>
          </p:nvSpPr>
          <p:spPr>
            <a:xfrm>
              <a:off x="9582907" y="4248900"/>
              <a:ext cx="8384400" cy="952500"/>
            </a:xfrm>
            <a:prstGeom prst="rect">
              <a:avLst/>
            </a:prstGeom>
            <a:solidFill>
              <a:srgbClr val="000000">
                <a:alpha val="0"/>
              </a:srgbClr>
            </a:solidFill>
            <a:ln>
              <a:noFill/>
            </a:ln>
          </p:spPr>
          <p:txBody>
            <a:bodyPr anchorCtr="0" anchor="ctr" bIns="0" lIns="0" spcFirstLastPara="1" rIns="0" wrap="square" tIns="0">
              <a:noAutofit/>
            </a:bodyPr>
            <a:lstStyle/>
            <a:p>
              <a:pPr indent="-285750" lvl="0" marL="457200" rtl="0" algn="l">
                <a:spcBef>
                  <a:spcPts val="0"/>
                </a:spcBef>
                <a:spcAft>
                  <a:spcPts val="0"/>
                </a:spcAft>
                <a:buClr>
                  <a:srgbClr val="FFFFFF"/>
                </a:buClr>
                <a:buSzPts val="900"/>
                <a:buFont typeface="Arial"/>
                <a:buChar char="●"/>
              </a:pPr>
              <a:r>
                <a:rPr b="1" lang="en" sz="900">
                  <a:solidFill>
                    <a:srgbClr val="22C55E"/>
                  </a:solidFill>
                  <a:latin typeface="Arial"/>
                  <a:ea typeface="Arial"/>
                  <a:cs typeface="Arial"/>
                  <a:sym typeface="Arial"/>
                </a:rPr>
                <a:t>Automated Hot-Swapping:</a:t>
              </a:r>
              <a:r>
                <a:rPr lang="en" sz="900">
                  <a:solidFill>
                    <a:srgbClr val="FFFFFF"/>
                  </a:solidFill>
                  <a:latin typeface="Arial"/>
                  <a:ea typeface="Arial"/>
                  <a:cs typeface="Arial"/>
                  <a:sym typeface="Arial"/>
                </a:rPr>
                <a:t> FastAPI dynamically pulls validated model artifacts from the R2 registry for zero-downtime updates.</a:t>
              </a:r>
              <a:endParaRPr sz="900">
                <a:solidFill>
                  <a:srgbClr val="FFFFFF"/>
                </a:solidFill>
                <a:latin typeface="Arial"/>
                <a:ea typeface="Arial"/>
                <a:cs typeface="Arial"/>
                <a:sym typeface="Arial"/>
              </a:endParaRPr>
            </a:p>
            <a:p>
              <a:pPr indent="-285750" lvl="0" marL="457200" rtl="0" algn="l">
                <a:spcBef>
                  <a:spcPts val="600"/>
                </a:spcBef>
                <a:spcAft>
                  <a:spcPts val="0"/>
                </a:spcAft>
                <a:buClr>
                  <a:srgbClr val="FFFFFF"/>
                </a:buClr>
                <a:buSzPts val="900"/>
                <a:buFont typeface="Arial"/>
                <a:buChar char="●"/>
              </a:pPr>
              <a:r>
                <a:rPr b="1" lang="en" sz="900">
                  <a:solidFill>
                    <a:srgbClr val="22C55E"/>
                  </a:solidFill>
                  <a:latin typeface="Arial"/>
                  <a:ea typeface="Arial"/>
                  <a:cs typeface="Arial"/>
                  <a:sym typeface="Arial"/>
                </a:rPr>
                <a:t>Schema Enforcement:</a:t>
              </a:r>
              <a:r>
                <a:rPr lang="en" sz="900">
                  <a:solidFill>
                    <a:srgbClr val="FFFFFF"/>
                  </a:solidFill>
                  <a:latin typeface="Arial"/>
                  <a:ea typeface="Arial"/>
                  <a:cs typeface="Arial"/>
                  <a:sym typeface="Arial"/>
                </a:rPr>
                <a:t> Ingestor workers validate Kafka events against strict schemas before storage.</a:t>
              </a:r>
              <a:endParaRPr sz="900">
                <a:solidFill>
                  <a:srgbClr val="FFFFFF"/>
                </a:solidFill>
                <a:latin typeface="Arial"/>
                <a:ea typeface="Arial"/>
                <a:cs typeface="Arial"/>
                <a:sym typeface="Arial"/>
              </a:endParaRPr>
            </a:p>
          </p:txBody>
        </p:sp>
      </p:grpSp>
      <p:pic>
        <p:nvPicPr>
          <p:cNvPr id="102" name="Google Shape;102;p15"/>
          <p:cNvPicPr preferRelativeResize="0"/>
          <p:nvPr/>
        </p:nvPicPr>
        <p:blipFill rotWithShape="1">
          <a:blip r:embed="rId3">
            <a:alphaModFix/>
          </a:blip>
          <a:srcRect b="0" l="0" r="0" t="0"/>
          <a:stretch/>
        </p:blipFill>
        <p:spPr>
          <a:xfrm>
            <a:off x="4150657" y="1950175"/>
            <a:ext cx="304800" cy="133500"/>
          </a:xfrm>
          <a:prstGeom prst="rect">
            <a:avLst/>
          </a:prstGeom>
          <a:noFill/>
          <a:ln>
            <a:noFill/>
          </a:ln>
        </p:spPr>
      </p:pic>
      <p:grpSp>
        <p:nvGrpSpPr>
          <p:cNvPr id="103" name="Google Shape;103;p15"/>
          <p:cNvGrpSpPr/>
          <p:nvPr/>
        </p:nvGrpSpPr>
        <p:grpSpPr>
          <a:xfrm>
            <a:off x="7428450" y="3666900"/>
            <a:ext cx="1715550" cy="1162799"/>
            <a:chOff x="7524750" y="4000500"/>
            <a:chExt cx="1715550" cy="1162799"/>
          </a:xfrm>
        </p:grpSpPr>
        <p:sp>
          <p:nvSpPr>
            <p:cNvPr id="104" name="Google Shape;104;p15"/>
            <p:cNvSpPr/>
            <p:nvPr/>
          </p:nvSpPr>
          <p:spPr>
            <a:xfrm>
              <a:off x="7524750" y="4000500"/>
              <a:ext cx="1238400" cy="762000"/>
            </a:xfrm>
            <a:prstGeom prst="roundRect">
              <a:avLst>
                <a:gd fmla="val 15000" name="adj"/>
              </a:avLst>
            </a:prstGeom>
            <a:solidFill>
              <a:srgbClr val="37415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8001900" y="4000502"/>
              <a:ext cx="12384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FFFFFF"/>
                  </a:solidFill>
                  <a:latin typeface="Material Icons"/>
                  <a:ea typeface="Material Icons"/>
                  <a:cs typeface="Material Icons"/>
                  <a:sym typeface="Material Icons"/>
                </a:rPr>
                <a:t>moni</a:t>
              </a:r>
              <a:r>
                <a:rPr lang="en" sz="2400">
                  <a:solidFill>
                    <a:srgbClr val="FFFFFF"/>
                  </a:solidFill>
                  <a:latin typeface="Material Icons"/>
                  <a:ea typeface="Material Icons"/>
                  <a:cs typeface="Material Icons"/>
                  <a:sym typeface="Material Icons"/>
                </a:rPr>
                <a:t>to</a:t>
              </a:r>
              <a:r>
                <a:rPr lang="en" sz="2400">
                  <a:solidFill>
                    <a:srgbClr val="FFFFFF"/>
                  </a:solidFill>
                  <a:latin typeface="Material Icons"/>
                  <a:ea typeface="Material Icons"/>
                  <a:cs typeface="Material Icons"/>
                  <a:sym typeface="Material Icons"/>
                </a:rPr>
                <a:t>ring</a:t>
              </a:r>
              <a:endParaRPr sz="2400">
                <a:solidFill>
                  <a:srgbClr val="FFFFFF"/>
                </a:solidFill>
                <a:latin typeface="Material Icons"/>
                <a:ea typeface="Material Icons"/>
                <a:cs typeface="Material Icons"/>
                <a:sym typeface="Material Icons"/>
              </a:endParaRPr>
            </a:p>
          </p:txBody>
        </p:sp>
        <p:sp>
          <p:nvSpPr>
            <p:cNvPr id="106" name="Google Shape;106;p15"/>
            <p:cNvSpPr txBox="1"/>
            <p:nvPr/>
          </p:nvSpPr>
          <p:spPr>
            <a:xfrm>
              <a:off x="7524750" y="4782299"/>
              <a:ext cx="1238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FFFFFF"/>
                  </a:solidFill>
                  <a:latin typeface="Arial"/>
                  <a:ea typeface="Arial"/>
                  <a:cs typeface="Arial"/>
                  <a:sym typeface="Arial"/>
                </a:rPr>
                <a:t>Monitoring</a:t>
              </a:r>
              <a:endParaRPr b="1" sz="900">
                <a:solidFill>
                  <a:srgbClr val="FFFFFF"/>
                </a:solidFill>
                <a:latin typeface="Arial"/>
                <a:ea typeface="Arial"/>
                <a:cs typeface="Arial"/>
                <a:sym typeface="Arial"/>
              </a:endParaRPr>
            </a:p>
            <a:p>
              <a:pPr indent="0" lvl="0" marL="0" rtl="0" algn="ctr">
                <a:spcBef>
                  <a:spcPts val="0"/>
                </a:spcBef>
                <a:spcAft>
                  <a:spcPts val="0"/>
                </a:spcAft>
                <a:buNone/>
              </a:pPr>
              <a:r>
                <a:rPr b="0" lang="en" sz="800">
                  <a:solidFill>
                    <a:srgbClr val="ADADAD"/>
                  </a:solidFill>
                  <a:latin typeface="Arial"/>
                  <a:ea typeface="Arial"/>
                  <a:cs typeface="Arial"/>
                  <a:sym typeface="Arial"/>
                </a:rPr>
                <a:t>Prometheus &amp; Grafana</a:t>
              </a:r>
              <a:endParaRPr b="0" sz="800">
                <a:solidFill>
                  <a:srgbClr val="ADADAD"/>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nvSpPr>
        <p:spPr>
          <a:xfrm>
            <a:off x="295275" y="371463"/>
            <a:ext cx="8382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FFFFFF"/>
                </a:solidFill>
                <a:latin typeface="Arial"/>
                <a:ea typeface="Arial"/>
                <a:cs typeface="Arial"/>
                <a:sym typeface="Arial"/>
              </a:rPr>
              <a:t>Hot-swap/Retrain Switch</a:t>
            </a:r>
            <a:endParaRPr b="1" sz="3200">
              <a:solidFill>
                <a:srgbClr val="FFFFFF"/>
              </a:solidFill>
              <a:latin typeface="Arial"/>
              <a:ea typeface="Arial"/>
              <a:cs typeface="Arial"/>
              <a:sym typeface="Arial"/>
            </a:endParaRPr>
          </a:p>
          <a:p>
            <a:pPr indent="0" lvl="0" marL="0" rtl="0" algn="l">
              <a:spcBef>
                <a:spcPts val="600"/>
              </a:spcBef>
              <a:spcAft>
                <a:spcPts val="600"/>
              </a:spcAft>
              <a:buNone/>
            </a:pPr>
            <a:r>
              <a:t/>
            </a:r>
            <a:endParaRPr b="0" sz="1400">
              <a:solidFill>
                <a:srgbClr val="ADADAD"/>
              </a:solidFill>
              <a:latin typeface="Arial"/>
              <a:ea typeface="Arial"/>
              <a:cs typeface="Arial"/>
              <a:sym typeface="Arial"/>
            </a:endParaRPr>
          </a:p>
        </p:txBody>
      </p:sp>
      <p:sp>
        <p:nvSpPr>
          <p:cNvPr id="112" name="Google Shape;112;p16"/>
          <p:cNvSpPr txBox="1"/>
          <p:nvPr/>
        </p:nvSpPr>
        <p:spPr>
          <a:xfrm>
            <a:off x="171450" y="1170925"/>
            <a:ext cx="3843300" cy="3401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Char char="●"/>
            </a:pPr>
            <a:r>
              <a:rPr lang="en" sz="1900">
                <a:solidFill>
                  <a:schemeClr val="dk1"/>
                </a:solidFill>
              </a:rPr>
              <a:t>Models are able to be swapped using the switch url (/switch?model={latest or model-version})</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Retraining models can also be done manually</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Automated through Github Actions (weekly)</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Current/Former model versions are retained in the registry (Cloudflare R2)</a:t>
            </a:r>
            <a:endParaRPr sz="1900">
              <a:solidFill>
                <a:schemeClr val="dk1"/>
              </a:solidFill>
            </a:endParaRPr>
          </a:p>
        </p:txBody>
      </p:sp>
      <p:sp>
        <p:nvSpPr>
          <p:cNvPr id="113" name="Google Shape;113;p16"/>
          <p:cNvSpPr/>
          <p:nvPr/>
        </p:nvSpPr>
        <p:spPr>
          <a:xfrm>
            <a:off x="366713" y="295275"/>
            <a:ext cx="1143000" cy="28500"/>
          </a:xfrm>
          <a:prstGeom prst="rect">
            <a:avLst/>
          </a:prstGeom>
          <a:solidFill>
            <a:srgbClr val="ADADA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4" name="Google Shape;114;p16" title="Screenshot 2026-04-13 at 11.46.01 AM.png"/>
          <p:cNvPicPr preferRelativeResize="0"/>
          <p:nvPr/>
        </p:nvPicPr>
        <p:blipFill>
          <a:blip r:embed="rId3">
            <a:alphaModFix/>
          </a:blip>
          <a:stretch>
            <a:fillRect/>
          </a:stretch>
        </p:blipFill>
        <p:spPr>
          <a:xfrm>
            <a:off x="4572000" y="1325411"/>
            <a:ext cx="4419599" cy="24926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7"/>
          <p:cNvPicPr preferRelativeResize="0"/>
          <p:nvPr/>
        </p:nvPicPr>
        <p:blipFill>
          <a:blip r:embed="rId3">
            <a:alphaModFix/>
          </a:blip>
          <a:stretch>
            <a:fillRect/>
          </a:stretch>
        </p:blipFill>
        <p:spPr>
          <a:xfrm>
            <a:off x="4095750" y="1252525"/>
            <a:ext cx="4857750" cy="3238500"/>
          </a:xfrm>
          <a:prstGeom prst="rect">
            <a:avLst/>
          </a:prstGeom>
          <a:noFill/>
          <a:ln>
            <a:noFill/>
          </a:ln>
        </p:spPr>
      </p:pic>
      <p:sp>
        <p:nvSpPr>
          <p:cNvPr id="120" name="Google Shape;120;p17"/>
          <p:cNvSpPr txBox="1"/>
          <p:nvPr/>
        </p:nvSpPr>
        <p:spPr>
          <a:xfrm>
            <a:off x="295275" y="371463"/>
            <a:ext cx="8382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200">
                <a:solidFill>
                  <a:srgbClr val="FFFFFF"/>
                </a:solidFill>
                <a:latin typeface="Arial"/>
                <a:ea typeface="Arial"/>
                <a:cs typeface="Arial"/>
                <a:sym typeface="Arial"/>
              </a:rPr>
              <a:t>A/B Experiment: KNN vs Popularity</a:t>
            </a:r>
            <a:endParaRPr b="1" sz="3200">
              <a:solidFill>
                <a:srgbClr val="FFFFFF"/>
              </a:solidFill>
              <a:latin typeface="Arial"/>
              <a:ea typeface="Arial"/>
              <a:cs typeface="Arial"/>
              <a:sym typeface="Arial"/>
            </a:endParaRPr>
          </a:p>
          <a:p>
            <a:pPr indent="0" lvl="0" marL="0" rtl="0" algn="l">
              <a:spcBef>
                <a:spcPts val="600"/>
              </a:spcBef>
              <a:spcAft>
                <a:spcPts val="600"/>
              </a:spcAft>
              <a:buNone/>
            </a:pPr>
            <a:r>
              <a:t/>
            </a:r>
            <a:endParaRPr b="0" sz="1400">
              <a:solidFill>
                <a:srgbClr val="ADADAD"/>
              </a:solidFill>
              <a:latin typeface="Arial"/>
              <a:ea typeface="Arial"/>
              <a:cs typeface="Arial"/>
              <a:sym typeface="Arial"/>
            </a:endParaRPr>
          </a:p>
        </p:txBody>
      </p:sp>
      <p:sp>
        <p:nvSpPr>
          <p:cNvPr id="121" name="Google Shape;121;p17"/>
          <p:cNvSpPr txBox="1"/>
          <p:nvPr/>
        </p:nvSpPr>
        <p:spPr>
          <a:xfrm>
            <a:off x="171450" y="1170925"/>
            <a:ext cx="3843300" cy="3401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Char char="●"/>
            </a:pPr>
            <a:r>
              <a:rPr lang="en" sz="1900">
                <a:solidFill>
                  <a:schemeClr val="dk1"/>
                </a:solidFill>
              </a:rPr>
              <a:t>189 probes from Kafka logs (63 KNN, 126 popularity)</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Both models: 100% success rate</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Latency: KNN 217ms vs popularity 205ms</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Welch's t-test: p = 0.389, not significant</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Decision: keep KNN as default (better accuracy, same speed)</a:t>
            </a:r>
            <a:endParaRPr sz="1900">
              <a:solidFill>
                <a:schemeClr val="dk1"/>
              </a:solidFill>
            </a:endParaRPr>
          </a:p>
        </p:txBody>
      </p:sp>
      <p:sp>
        <p:nvSpPr>
          <p:cNvPr id="122" name="Google Shape;122;p17"/>
          <p:cNvSpPr/>
          <p:nvPr/>
        </p:nvSpPr>
        <p:spPr>
          <a:xfrm>
            <a:off x="366713" y="295275"/>
            <a:ext cx="1143000" cy="28500"/>
          </a:xfrm>
          <a:prstGeom prst="rect">
            <a:avLst/>
          </a:prstGeom>
          <a:solidFill>
            <a:srgbClr val="ADADA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nvSpPr>
        <p:spPr>
          <a:xfrm>
            <a:off x="295275" y="542913"/>
            <a:ext cx="8382000" cy="952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3200">
                <a:solidFill>
                  <a:srgbClr val="FFFFFF"/>
                </a:solidFill>
                <a:latin typeface="Arial"/>
                <a:ea typeface="Arial"/>
                <a:cs typeface="Arial"/>
                <a:sym typeface="Arial"/>
              </a:rPr>
              <a:t>Thank You! </a:t>
            </a:r>
            <a:endParaRPr b="1" sz="3200">
              <a:solidFill>
                <a:srgbClr val="FFFFFF"/>
              </a:solidFill>
              <a:latin typeface="Arial"/>
              <a:ea typeface="Arial"/>
              <a:cs typeface="Arial"/>
              <a:sym typeface="Arial"/>
            </a:endParaRPr>
          </a:p>
          <a:p>
            <a:pPr indent="0" lvl="0" marL="0" rtl="0" algn="ctr">
              <a:spcBef>
                <a:spcPts val="600"/>
              </a:spcBef>
              <a:spcAft>
                <a:spcPts val="0"/>
              </a:spcAft>
              <a:buNone/>
            </a:pPr>
            <a:r>
              <a:rPr b="1" lang="en" sz="3200">
                <a:solidFill>
                  <a:srgbClr val="FFFFFF"/>
                </a:solidFill>
                <a:latin typeface="Arial"/>
                <a:ea typeface="Arial"/>
                <a:cs typeface="Arial"/>
                <a:sym typeface="Arial"/>
              </a:rPr>
              <a:t>Please feel free to ask any questions to the group through your preferred method!</a:t>
            </a:r>
            <a:endParaRPr b="1" sz="3200">
              <a:solidFill>
                <a:srgbClr val="FFFFFF"/>
              </a:solidFill>
              <a:latin typeface="Arial"/>
              <a:ea typeface="Arial"/>
              <a:cs typeface="Arial"/>
              <a:sym typeface="Arial"/>
            </a:endParaRPr>
          </a:p>
          <a:p>
            <a:pPr indent="0" lvl="0" marL="0" rtl="0" algn="l">
              <a:spcBef>
                <a:spcPts val="600"/>
              </a:spcBef>
              <a:spcAft>
                <a:spcPts val="600"/>
              </a:spcAft>
              <a:buNone/>
            </a:pPr>
            <a:r>
              <a:t/>
            </a:r>
            <a:endParaRPr b="0" sz="1400">
              <a:solidFill>
                <a:srgbClr val="ADADAD"/>
              </a:solidFill>
              <a:latin typeface="Arial"/>
              <a:ea typeface="Arial"/>
              <a:cs typeface="Arial"/>
              <a:sym typeface="Arial"/>
            </a:endParaRPr>
          </a:p>
        </p:txBody>
      </p:sp>
      <p:sp>
        <p:nvSpPr>
          <p:cNvPr id="128" name="Google Shape;128;p18"/>
          <p:cNvSpPr/>
          <p:nvPr/>
        </p:nvSpPr>
        <p:spPr>
          <a:xfrm>
            <a:off x="381000" y="309563"/>
            <a:ext cx="1143000" cy="28500"/>
          </a:xfrm>
          <a:prstGeom prst="rect">
            <a:avLst/>
          </a:prstGeom>
          <a:solidFill>
            <a:srgbClr val="ADADA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